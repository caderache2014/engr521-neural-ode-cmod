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  <p:sldMasterId id="2147483661" r:id="rId2"/>
    <p:sldMasterId id="2147483662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embeddedFontLst>
    <p:embeddedFont>
      <p:font typeface="Encode Sans" pitchFamily="2" charset="77"/>
      <p:regular r:id="rId24"/>
      <p:bold r:id="rId25"/>
    </p:embeddedFont>
    <p:embeddedFont>
      <p:font typeface="Encode Sans Black" pitchFamily="2" charset="77"/>
      <p:bold r:id="rId26"/>
    </p:embeddedFont>
    <p:embeddedFont>
      <p:font typeface="Old Standard TT" pitchFamily="2" charset="77"/>
      <p:regular r:id="rId27"/>
      <p:bold r:id="rId28"/>
      <p: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SemiBold" panose="020B0706030804020204" pitchFamily="34" charset="0"/>
      <p:regular r:id="rId34"/>
      <p:bold r:id="rId35"/>
      <p:italic r:id="rId36"/>
      <p:boldItalic r:id="rId37"/>
    </p:embeddedFont>
    <p:embeddedFont>
      <p:font typeface="Roboto Mono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96">
          <p15:clr>
            <a:srgbClr val="A4A3A4"/>
          </p15:clr>
        </p15:guide>
        <p15:guide id="2" pos="63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ino Wells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7225B-32BC-481F-B453-A7D3E6B69DA4}">
  <a:tblStyle styleId="{37E7225B-32BC-481F-B453-A7D3E6B69D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639E25C-C08E-436E-A343-3F5F0774F923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0000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000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>
        <p:guide orient="horz" pos="2496"/>
        <p:guide pos="6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font" Target="fonts/font18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5-23T03:13:58.832" idx="1">
    <p:pos x="3384" y="913"/>
    <p:text>@cmb27@uw.edu Please review and approve / provide feedback
_Assigned to you_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95737b10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95737b10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95737b10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e95737b10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d2bce12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9d2bce12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●Fusion power has been the longest-running "almost there" story in energy. But the last few years changed the timeline — in 2022, the National Ignition Facility at Lawrence Livermore achieved net energy gain, and private companies are now building fusion devices at a pace nobody expected.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●The top diagram shows the most common fusion reaction: deuterium and tritium fuse into helium and a neutron, releasing energy. Below is the inside of Alcator C-Mod, the MIT tokamak that produced the experimental data we use. A tokamak holds a plasma hotter than the sun inside a magnetic bottle — and that plasma is violently unstable. Lose control for a few milliseconds, and it dumps enormous energy onto the reactor walls. Preventing that requires real-time decisions, faster than traditional physics control systems can run.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●That's the gap AI can potentially fill. But a machine learning model that just fits data, without respecting the physics, can't be trusted in conditions it hasn't seen.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9d2bce12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9d2bce12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●This is exactly the problem addressed by Allen Wang and colleagues in their 2023 NeurIPS paper. Using experimental data from Alcator C-Mod, they model three coupled plasma quantities — internal inductance, plasma current, and loop voltage. Two of these follow exact physics equations derived by Romero in 2010. But the third — the loop voltage — only has an approximate expression, shown here as roughly proportional to the voltage itself plus a driving term.  Wang's key IDEA: replace that weak approximation with a neural network, while keeping the trustworthy physics for the other two.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●Our base goal was to independently reproduce Wang's models in three separate frameworks — PyTorch, JAX, and Julia — to confirm the result holds across implementations. Then we asked a more ambitious question: could we go beyond Wang, and use equation-discovery tools — symbolic regression, or SINDy — to recover an actual mathematical expression for that missing voltage equation? That would turn a black box back into interpretable physics.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5737b109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e95737b109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5737b109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95737b109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95737b10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e95737b10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9d40e7109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e9d40e710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431934e57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431934e57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— did it work? Mostly yes, with one important twist.</a:t>
            </a:r>
            <a:br>
              <a:rPr lang="en-US"/>
            </a:br>
            <a:r>
              <a:rPr lang="en-US"/>
              <a:t>I reproduced Wang's model in Julia, and it tracks the two physics-governed quantities — inductance and current — as accurately as the original paper, across both error metrics in Table 1. In fact, one of my configurations beats Wang's published numbers outright.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431934e5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But then I tested the part that matters for equation discovery. If we want symbolic regression to find the voltage equation, the network first has to actually </a:t>
            </a:r>
            <a:r>
              <a:rPr lang="en-US" i="1">
                <a:solidFill>
                  <a:schemeClr val="dk1"/>
                </a:solidFill>
              </a:rPr>
              <a:t>learn</a:t>
            </a:r>
            <a:r>
              <a:rPr lang="en-US">
                <a:solidFill>
                  <a:schemeClr val="dk1"/>
                </a:solidFill>
              </a:rPr>
              <a:t> the voltage according to its physics. So, we ran a diagnostic Wang didn't: we compared the network's predicted voltage dynamics against the real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answer is in Table 2 and the scatter plots in Figure 3. The correlation is essentially zero — no better than noise. The network reproduces inductance and current beautifully while treating voltage as a free variable it can set to whatever makes those two fit best.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e431934e5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3e453ca9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3e453ca9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tells us two things. First, symbolic regression is not a viable path here — you can't extract a meaningful equation from a network that didn't learn the underlying signal. And second — we tested whether forcing the issue would help, by adding voltage directly into the training objective. It didn't. The correlation stayed essentially zero.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So, the model is fast and accurate where it counts — but it's fitting the voltage, not understanding it. Finding that limit, clearly and quantitatively, is itself  a necessary part of applying AI to scientific research.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43f83879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e43f83879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43f838795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e43f838795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43f838795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e43f838795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3b6f93cd5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e3b6f93cd5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43f838795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43f838795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43f838795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e43f838795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95737b10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e95737b10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4065df56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4065df56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lt2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>
            <a:spLocks noGrp="1"/>
          </p:cNvSpPr>
          <p:nvPr>
            <p:ph type="pic" idx="2"/>
          </p:nvPr>
        </p:nvSpPr>
        <p:spPr>
          <a:xfrm>
            <a:off x="0" y="-1"/>
            <a:ext cx="12192000" cy="685814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1104901" y="1831425"/>
            <a:ext cx="9982200" cy="319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Encode Sans Black"/>
              <a:buNone/>
              <a:defRPr sz="65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Subheader + Content">
  <p:cSld name="Header + Subheader +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83037" cy="99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422081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441663" y="1730667"/>
            <a:ext cx="6683037" cy="41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2"/>
          </p:nvPr>
        </p:nvSpPr>
        <p:spPr>
          <a:xfrm>
            <a:off x="428625" y="2508996"/>
            <a:ext cx="6700052" cy="331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7543801" y="0"/>
            <a:ext cx="4648200" cy="603885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Content">
  <p:cSld name="Header + Content">
    <p:bg>
      <p:bgPr>
        <a:solidFill>
          <a:schemeClr val="l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34" cy="99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847738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675" cy="40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>
            <a:spLocks noGrp="1"/>
          </p:cNvSpPr>
          <p:nvPr>
            <p:ph type="pic" idx="2"/>
          </p:nvPr>
        </p:nvSpPr>
        <p:spPr>
          <a:xfrm>
            <a:off x="7543801" y="0"/>
            <a:ext cx="4648200" cy="60388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4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Graphic">
  <p:cSld name="Header + Graphic">
    <p:bg>
      <p:bgPr>
        <a:solidFill>
          <a:schemeClr val="lt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11318537" cy="99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422081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39353" y="1734740"/>
            <a:ext cx="5289947" cy="380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39353" y="5658983"/>
            <a:ext cx="52899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3"/>
          </p:nvPr>
        </p:nvSpPr>
        <p:spPr>
          <a:xfrm>
            <a:off x="6362700" y="1734740"/>
            <a:ext cx="5289947" cy="380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4"/>
          </p:nvPr>
        </p:nvSpPr>
        <p:spPr>
          <a:xfrm>
            <a:off x="6362700" y="5658983"/>
            <a:ext cx="52899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10971536" y="-3546"/>
            <a:ext cx="1220388" cy="4545617"/>
          </a:xfrm>
          <a:custGeom>
            <a:avLst/>
            <a:gdLst/>
            <a:ahLst/>
            <a:cxnLst/>
            <a:rect l="l" t="t" r="r" b="b"/>
            <a:pathLst>
              <a:path w="998272" h="3718296" extrusionOk="0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02074" t="-50070" r="-541238" b="-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2698" y="202991"/>
            <a:ext cx="869302" cy="58758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>
            <a:spLocks noGrp="1"/>
          </p:cNvSpPr>
          <p:nvPr>
            <p:ph type="pic" idx="2"/>
          </p:nvPr>
        </p:nvSpPr>
        <p:spPr>
          <a:xfrm>
            <a:off x="-9527" y="0"/>
            <a:ext cx="11979300" cy="3722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671756" y="4268904"/>
            <a:ext cx="108153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Encode Sans Black"/>
              <a:buNone/>
              <a:defRPr sz="40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225" y="6460074"/>
            <a:ext cx="2409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Subheader + Content">
  <p:cSld name="Header + Subheader +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11193728" y="-3546"/>
            <a:ext cx="998272" cy="3718296"/>
          </a:xfrm>
          <a:custGeom>
            <a:avLst/>
            <a:gdLst/>
            <a:ahLst/>
            <a:cxnLst/>
            <a:rect l="l" t="t" r="r" b="b"/>
            <a:pathLst>
              <a:path w="998272" h="3718296" extrusionOk="0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02074" t="-50070" r="-541238" b="-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0243" y="202991"/>
            <a:ext cx="671757" cy="45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225" y="6460074"/>
            <a:ext cx="2409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671757" y="365069"/>
            <a:ext cx="104058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671757" y="1730667"/>
            <a:ext cx="106917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marL="1371600" marR="0" lvl="2" indent="-22860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marL="1828800" marR="0" lvl="3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marL="2286000" marR="0" lvl="4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659305" y="2508996"/>
            <a:ext cx="109899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Content">
  <p:cSld name="Header + Content">
    <p:bg>
      <p:bgPr>
        <a:solidFill>
          <a:schemeClr val="dk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1193728" y="-3546"/>
            <a:ext cx="998272" cy="3718296"/>
          </a:xfrm>
          <a:custGeom>
            <a:avLst/>
            <a:gdLst/>
            <a:ahLst/>
            <a:cxnLst/>
            <a:rect l="l" t="t" r="r" b="b"/>
            <a:pathLst>
              <a:path w="998272" h="3718296" extrusionOk="0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02074" t="-50070" r="-541238" b="-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0243" y="202991"/>
            <a:ext cx="671757" cy="45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225" y="6460074"/>
            <a:ext cx="2409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71757" y="365069"/>
            <a:ext cx="104343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59305" y="1904085"/>
            <a:ext cx="10888800" cy="4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Graphic">
  <p:cSld name="Header + Graphic">
    <p:bg>
      <p:bgPr>
        <a:solidFill>
          <a:schemeClr val="dk2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11193728" y="-3546"/>
            <a:ext cx="998272" cy="3718296"/>
          </a:xfrm>
          <a:custGeom>
            <a:avLst/>
            <a:gdLst/>
            <a:ahLst/>
            <a:cxnLst/>
            <a:rect l="l" t="t" r="r" b="b"/>
            <a:pathLst>
              <a:path w="998272" h="3718296" extrusionOk="0">
                <a:moveTo>
                  <a:pt x="0" y="0"/>
                </a:moveTo>
                <a:lnTo>
                  <a:pt x="998272" y="1164"/>
                </a:lnTo>
                <a:lnTo>
                  <a:pt x="998272" y="371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02074" t="-50070" r="-541238" b="-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0243" y="202991"/>
            <a:ext cx="671757" cy="45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225" y="6460074"/>
            <a:ext cx="2409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71757" y="365069"/>
            <a:ext cx="102915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671757" y="1802254"/>
            <a:ext cx="5176500" cy="3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671757" y="5895975"/>
            <a:ext cx="5176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3"/>
          </p:nvPr>
        </p:nvSpPr>
        <p:spPr>
          <a:xfrm>
            <a:off x="6343650" y="1802254"/>
            <a:ext cx="5176500" cy="3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4"/>
          </p:nvPr>
        </p:nvSpPr>
        <p:spPr>
          <a:xfrm>
            <a:off x="6343649" y="5895975"/>
            <a:ext cx="5176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>
            <a:spLocks noGrp="1"/>
          </p:cNvSpPr>
          <p:nvPr>
            <p:ph type="pic" idx="2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1104901" y="1831425"/>
            <a:ext cx="9982200" cy="3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Encode Sans Black"/>
              <a:buNone/>
              <a:defRPr sz="6500" b="1" i="0" u="none" strike="noStrike" cap="non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Subheader + Content">
  <p:cSld name="Header + Subheader +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831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422082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441663" y="1730667"/>
            <a:ext cx="66831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marL="1371600" marR="0" lvl="2" indent="-22860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marL="1828800" marR="0" lvl="3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marL="2286000" marR="0" lvl="4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428625" y="2508996"/>
            <a:ext cx="6700200" cy="3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>
            <a:spLocks noGrp="1"/>
          </p:cNvSpPr>
          <p:nvPr>
            <p:ph type="pic" idx="3"/>
          </p:nvPr>
        </p:nvSpPr>
        <p:spPr>
          <a:xfrm>
            <a:off x="7543801" y="0"/>
            <a:ext cx="4648200" cy="6039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4" name="Google Shape;84;p13"/>
          <p:cNvSpPr/>
          <p:nvPr/>
        </p:nvSpPr>
        <p:spPr>
          <a:xfrm>
            <a:off x="0" y="6038850"/>
            <a:ext cx="12192000" cy="81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Content">
  <p:cSld name="Header + Content">
    <p:bg>
      <p:bgPr>
        <a:solidFill>
          <a:schemeClr val="l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847736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800" cy="4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 Black"/>
              <a:buChar char="&gt;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>
            <a:spLocks noGrp="1"/>
          </p:cNvSpPr>
          <p:nvPr>
            <p:ph type="pic" idx="2"/>
          </p:nvPr>
        </p:nvSpPr>
        <p:spPr>
          <a:xfrm>
            <a:off x="7543801" y="0"/>
            <a:ext cx="4648200" cy="6039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92" name="Google Shape;92;p14"/>
          <p:cNvSpPr/>
          <p:nvPr/>
        </p:nvSpPr>
        <p:spPr>
          <a:xfrm>
            <a:off x="0" y="6038850"/>
            <a:ext cx="12192000" cy="81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Graphic">
  <p:cSld name="Header + Graphic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113184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  <a:defRPr sz="2800" b="1" i="0" u="none" strike="noStrike" cap="none">
                <a:solidFill>
                  <a:schemeClr val="dk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353" y="1437805"/>
            <a:ext cx="1422082" cy="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539353" y="1734740"/>
            <a:ext cx="5289900" cy="3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2"/>
          </p:nvPr>
        </p:nvSpPr>
        <p:spPr>
          <a:xfrm>
            <a:off x="539353" y="5658983"/>
            <a:ext cx="5289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3"/>
          </p:nvPr>
        </p:nvSpPr>
        <p:spPr>
          <a:xfrm>
            <a:off x="6362700" y="1734740"/>
            <a:ext cx="5289900" cy="3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4"/>
          </p:nvPr>
        </p:nvSpPr>
        <p:spPr>
          <a:xfrm>
            <a:off x="6362700" y="5658983"/>
            <a:ext cx="5289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Black"/>
              <a:buNone/>
              <a:def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0" y="6038850"/>
            <a:ext cx="12192000" cy="81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167" y="6242482"/>
            <a:ext cx="643834" cy="4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aip.org/aip/pop/article/21/11/110501/1013303/20-years-of-research-on-the-Alcator-C-Mod-tokamaka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commons.wikimedia.org/wiki/File:D-t-fusion.p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usionindustryassociation.org/fusion-industry-reports/" TargetMode="External"/><Relationship Id="rId5" Type="http://schemas.openxmlformats.org/officeDocument/2006/relationships/hyperlink" Target="https://journals.aps.org/prl/abstract/10.1103/PhysRevLett.132.065102" TargetMode="External"/><Relationship Id="rId10" Type="http://schemas.openxmlformats.org/officeDocument/2006/relationships/hyperlink" Target="https://iopscience.iop.org/article/10.1088/0029-5515/50/11/115002" TargetMode="External"/><Relationship Id="rId4" Type="http://schemas.openxmlformats.org/officeDocument/2006/relationships/hyperlink" Target="https://github.com/caderache2014/ENGR521A/" TargetMode="External"/><Relationship Id="rId9" Type="http://schemas.openxmlformats.org/officeDocument/2006/relationships/hyperlink" Target="https://arxiv.org/pdf/2310.2007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16"/>
          <p:cNvGraphicFramePr/>
          <p:nvPr/>
        </p:nvGraphicFramePr>
        <p:xfrm>
          <a:off x="13" y="838513"/>
          <a:ext cx="12191975" cy="6019700"/>
        </p:xfrm>
        <a:graphic>
          <a:graphicData uri="http://schemas.openxmlformats.org/drawingml/2006/table">
            <a:tbl>
              <a:tblPr>
                <a:noFill/>
                <a:tableStyleId>{37E7225B-32BC-481F-B453-A7D3E6B69DA4}</a:tableStyleId>
              </a:tblPr>
              <a:tblGrid>
                <a:gridCol w="40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#</a:t>
                      </a:r>
                      <a:endParaRPr sz="10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114300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Owner</a:t>
                      </a:r>
                      <a:endParaRPr sz="9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114300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Title</a:t>
                      </a:r>
                      <a:endParaRPr sz="10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114300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Content Focus</a:t>
                      </a:r>
                      <a:endParaRPr sz="10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Intro &amp; Motivation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Tokamaks are a leading technology for commercial fusion energy.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A major hurdle is "plasma disruptions" (sudden losses of confinement that damage hardware).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Safely terminating a discharge requires real-time control over plasma current ($I_p$) and internal inductance ($L_i$).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Physics Problem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: Modeling Plasma Dynamics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Partial differential equations are too slow for real-time, sub-millisecond control.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The Romero (2010) model derived an ODE approximation to solve this.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While energy and flux equations are exact, the voltage ($\dot{V}$) equation is a flawed first-order approximation.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 Methodology: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Hybrid Neural ODEs (Teach Each Other)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Neural ODEs output time derivatives instead of states, naturally coupling with physics.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We are building on "RomeroNNV," a hybrid model using a neural net to learn the unknown $\dot{V}$ dynamics.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Core Goal: Use Symbolic Regression (SR) and SINDy to turn this black-box network into an interpretable equation.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Goals &amp; Workflow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Goal 1: Reproduce Wang's model across Julia, Python/JAX, and Python/PyTorch.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Goal 2: Use the trained models to generate a dense, regularly-sampled synthetic dataset (bypassing experimental data gaps).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Goal 3: Apply SR and SINDy to discover a new, physical equation for plasma voltage dynamics.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 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JAX Implementation &amp; SINDy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Successfully established a stable training loop and reproduced RomeroNNV.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Achieved target Mean Absolute Percent Error (4.27% for $L_i$, 2.83% for $I_p$).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Began preliminary exploration of applying SINDy to data residuals.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 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Julia Implementation &amp; The Diagnostics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Breakthrough: The pure neural </a:t>
                      </a: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MlpODE_v70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achieved the best $L_i$ and $I_p$ tracking metrics across all three implementations.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Diagnostic Check: Built a novel $dV/dt$ correlation diagnostic to verify if the physics were actually learned.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The Result: $R^2$ remained near zero; the networks used $V$ as a free latent variable rather than learning the physical dynamics.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PyTorch Implementation &amp; The Second Obstacle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Evaluated the architectures using a strict full-trajectory continuous integration.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Compounding error over a full shot provided a strictly harder evaluation task.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Under this continuous evaluation, the pure neural network (</a:t>
                      </a: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MlpODE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 tracked $I_p$ better than the hybrid model.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Roadblock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: The Data Bottleneck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Root Cause: The underlying finite-differenced voltage signal is completely noise-dominated (even pure physics shows $R^2 \approx 0.0002$).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SINDy Dilemma: Applying SINDy to these data residuals will inherit the exact same noise problem.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Pivot: We are framing this as a definitive, clean negative result rather than forcing equation discovery on unviable data.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Next Steps &amp; Feedback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Finalize cross-framework comparisons to cement </a:t>
                      </a:r>
                      <a:r>
                        <a:rPr lang="en-US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MlpODE_v70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as the strongest reproduction.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Anchor the final paper on this positive engineering result paired with our negative diagnostic result.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• Feedback: How have peers handled downstream tasks (like equation discovery) becoming mathematically unviable due to dataset noise late in a project?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38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</a:t>
                      </a:r>
                      <a:endParaRPr sz="1000" b="1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Thank You &amp; Resources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Citations / References Slide; github, etc</a:t>
                      </a:r>
                      <a:endParaRPr sz="1000">
                        <a:solidFill>
                          <a:srgbClr val="1F1F1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b="0">
                <a:latin typeface="Encode Sans"/>
                <a:ea typeface="Encode Sans"/>
                <a:cs typeface="Encode Sans"/>
                <a:sym typeface="Encode Sans"/>
              </a:rPr>
              <a:t>[PROPOSED] </a:t>
            </a:r>
            <a:r>
              <a:rPr lang="en-US"/>
              <a:t>Presentation Outline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---------------------------------------------</a:t>
            </a:r>
            <a:r>
              <a:rPr lang="en-US" sz="1600" b="0">
                <a:solidFill>
                  <a:schemeClr val="accent3"/>
                </a:solidFill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[</a:t>
            </a: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</a:t>
            </a:r>
            <a:r>
              <a:rPr lang="en-US" sz="1600" b="0">
                <a:solidFill>
                  <a:schemeClr val="accent3"/>
                </a:solidFill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🚨</a:t>
            </a: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</a:t>
            </a:r>
            <a:r>
              <a:rPr lang="en-US" sz="1200" b="0">
                <a:solidFill>
                  <a:schemeClr val="accent3"/>
                </a:solidFill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DELETE OR HIDE BEFORE PRESENTING</a:t>
            </a: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</a:t>
            </a:r>
            <a:r>
              <a:rPr lang="en-US" sz="1600" b="0">
                <a:solidFill>
                  <a:schemeClr val="lt2"/>
                </a:solidFill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🚨</a:t>
            </a: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</a:t>
            </a:r>
            <a:r>
              <a:rPr lang="en-US" sz="1600" b="0">
                <a:solidFill>
                  <a:schemeClr val="lt2"/>
                </a:solidFill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]</a:t>
            </a:r>
            <a:r>
              <a:rPr lang="en-US" sz="1600" b="0">
                <a:highlight>
                  <a:schemeClr val="dk2"/>
                </a:highlight>
                <a:latin typeface="Open Sans SemiBold"/>
                <a:ea typeface="Open Sans SemiBold"/>
                <a:cs typeface="Open Sans SemiBold"/>
                <a:sym typeface="Open Sans SemiBold"/>
              </a:rPr>
              <a:t>---------------------------------------</a:t>
            </a:r>
            <a:endParaRPr sz="1600" b="0">
              <a:solidFill>
                <a:schemeClr val="accent3"/>
              </a:solidFill>
              <a:highlight>
                <a:schemeClr val="dk2"/>
              </a:highlight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1" cy="45575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43662"/>
          <a:stretch/>
        </p:blipFill>
        <p:spPr>
          <a:xfrm>
            <a:off x="0" y="0"/>
            <a:ext cx="12192001" cy="45575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grpSp>
        <p:nvGrpSpPr>
          <p:cNvPr id="117" name="Google Shape;117;p17"/>
          <p:cNvGrpSpPr/>
          <p:nvPr/>
        </p:nvGrpSpPr>
        <p:grpSpPr>
          <a:xfrm>
            <a:off x="8662425" y="4849905"/>
            <a:ext cx="1609200" cy="1723566"/>
            <a:chOff x="8654800" y="4960400"/>
            <a:chExt cx="1609200" cy="1723566"/>
          </a:xfrm>
        </p:grpSpPr>
        <p:pic>
          <p:nvPicPr>
            <p:cNvPr id="118" name="Google Shape;118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65100" y="4960400"/>
              <a:ext cx="1188600" cy="1188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19" name="Google Shape;119;p17"/>
            <p:cNvSpPr txBox="1"/>
            <p:nvPr/>
          </p:nvSpPr>
          <p:spPr>
            <a:xfrm>
              <a:off x="8654800" y="6165266"/>
              <a:ext cx="16092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 b="1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Phillip Prior</a:t>
              </a:r>
              <a:r>
                <a:rPr lang="en-US" sz="1100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 </a:t>
              </a:r>
              <a:endParaRPr sz="1100" b="1">
                <a:solidFill>
                  <a:schemeClr val="l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highlight>
                    <a:schemeClr val="accent1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[pjr32@]</a:t>
              </a:r>
              <a:endParaRPr sz="1100">
                <a:solidFill>
                  <a:schemeClr val="l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71750" y="4624500"/>
            <a:ext cx="5959800" cy="10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Encode Sans Black"/>
              <a:buNone/>
            </a:pPr>
            <a:endParaRPr sz="5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Encode Sans Black"/>
              <a:buNone/>
            </a:pPr>
            <a:r>
              <a:rPr lang="en-US" sz="2200"/>
              <a:t>Reproducing &amp; Diagnosing a Hybrid Neural ODE for Plasma Current Dynamics in the Alcator C-Mod Tokamak</a:t>
            </a:r>
            <a:endParaRPr sz="800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1200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Encode Sans"/>
                <a:ea typeface="Encode Sans"/>
                <a:cs typeface="Encode Sans"/>
                <a:sym typeface="Encode Sans"/>
              </a:rPr>
              <a:t>ENGR 521 A</a:t>
            </a:r>
            <a:r>
              <a:rPr lang="en-US" sz="1100" b="0">
                <a:solidFill>
                  <a:schemeClr val="lt1"/>
                </a:solidFill>
                <a:latin typeface="Encode Sans"/>
                <a:ea typeface="Encode Sans"/>
                <a:cs typeface="Encode Sans"/>
                <a:sym typeface="Encode Sans"/>
              </a:rPr>
              <a:t>: Machine Learning For Engineering Project - </a:t>
            </a:r>
            <a:r>
              <a:rPr lang="en-US" sz="1100" b="0" i="1">
                <a:solidFill>
                  <a:schemeClr val="lt1"/>
                </a:solidFill>
                <a:latin typeface="Encode Sans"/>
                <a:ea typeface="Encode Sans"/>
                <a:cs typeface="Encode Sans"/>
                <a:sym typeface="Encode Sans"/>
              </a:rPr>
              <a:t>Spring 2026</a:t>
            </a:r>
            <a:endParaRPr sz="1100" b="0" i="1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Encode Sans Black"/>
              <a:buNone/>
            </a:pPr>
            <a:endParaRPr sz="2200"/>
          </a:p>
        </p:txBody>
      </p:sp>
      <p:cxnSp>
        <p:nvCxnSpPr>
          <p:cNvPr id="121" name="Google Shape;121;p17"/>
          <p:cNvCxnSpPr/>
          <p:nvPr/>
        </p:nvCxnSpPr>
        <p:spPr>
          <a:xfrm>
            <a:off x="-900" y="4557600"/>
            <a:ext cx="12193800" cy="90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7053225" y="4849905"/>
            <a:ext cx="1609200" cy="1606664"/>
            <a:chOff x="7045600" y="4960400"/>
            <a:chExt cx="1609200" cy="1606664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7045600" y="6165364"/>
              <a:ext cx="1609200" cy="4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Chris Billingham</a:t>
              </a:r>
              <a:r>
                <a:rPr lang="en-US" sz="1100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 </a:t>
              </a:r>
              <a:endParaRPr sz="1100">
                <a:solidFill>
                  <a:schemeClr val="l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highlight>
                    <a:schemeClr val="accent1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[cmb27@]</a:t>
              </a:r>
              <a:endParaRPr sz="1100">
                <a:solidFill>
                  <a:schemeClr val="l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124" name="Google Shape;124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55900" y="4960400"/>
              <a:ext cx="1188600" cy="1188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25" name="Google Shape;125;p17"/>
          <p:cNvGrpSpPr/>
          <p:nvPr/>
        </p:nvGrpSpPr>
        <p:grpSpPr>
          <a:xfrm>
            <a:off x="10271625" y="4849905"/>
            <a:ext cx="1609200" cy="1776367"/>
            <a:chOff x="10264000" y="4960400"/>
            <a:chExt cx="1609200" cy="1776367"/>
          </a:xfrm>
        </p:grpSpPr>
        <p:sp>
          <p:nvSpPr>
            <p:cNvPr id="126" name="Google Shape;126;p17"/>
            <p:cNvSpPr txBox="1"/>
            <p:nvPr/>
          </p:nvSpPr>
          <p:spPr>
            <a:xfrm>
              <a:off x="10264000" y="6165267"/>
              <a:ext cx="160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 Wells</a:t>
              </a:r>
              <a:r>
                <a:rPr lang="en-US" sz="1100">
                  <a:solidFill>
                    <a:schemeClr val="l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 </a:t>
              </a:r>
              <a:endParaRPr sz="1100">
                <a:solidFill>
                  <a:schemeClr val="l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highlight>
                    <a:schemeClr val="accent1"/>
                  </a:highlight>
                  <a:latin typeface="Encode Sans"/>
                  <a:ea typeface="Encode Sans"/>
                  <a:cs typeface="Encode Sans"/>
                  <a:sym typeface="Encode Sans"/>
                </a:rPr>
                <a:t>[</a:t>
              </a:r>
              <a:r>
                <a:rPr lang="en-US" sz="1000">
                  <a:solidFill>
                    <a:schemeClr val="lt1"/>
                  </a:solidFill>
                  <a:highlight>
                    <a:schemeClr val="accent1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tinow@</a:t>
              </a:r>
              <a:r>
                <a:rPr lang="en-US" sz="1100">
                  <a:solidFill>
                    <a:schemeClr val="lt1"/>
                  </a:solidFill>
                  <a:highlight>
                    <a:schemeClr val="accent1"/>
                  </a:highlight>
                  <a:latin typeface="Encode Sans"/>
                  <a:ea typeface="Encode Sans"/>
                  <a:cs typeface="Encode Sans"/>
                  <a:sym typeface="Encode Sans"/>
                </a:rPr>
                <a:t>]</a:t>
              </a:r>
              <a:endParaRPr sz="1100">
                <a:solidFill>
                  <a:schemeClr val="lt1"/>
                </a:solidFill>
                <a:highlight>
                  <a:schemeClr val="accent1"/>
                </a:highlight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127" name="Google Shape;127;p17" title="myface.jpe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474300" y="4960400"/>
              <a:ext cx="1188600" cy="11886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800" cy="409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>
            <a:spLocks noGrp="1"/>
          </p:cNvSpPr>
          <p:nvPr>
            <p:ph type="pic" idx="2"/>
          </p:nvPr>
        </p:nvSpPr>
        <p:spPr>
          <a:xfrm>
            <a:off x="7543801" y="0"/>
            <a:ext cx="4648200" cy="603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800" cy="409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/>
          <p:cNvSpPr>
            <a:spLocks noGrp="1"/>
          </p:cNvSpPr>
          <p:nvPr>
            <p:ph type="pic" idx="2"/>
          </p:nvPr>
        </p:nvSpPr>
        <p:spPr>
          <a:xfrm>
            <a:off x="7543801" y="0"/>
            <a:ext cx="4648200" cy="603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AI Methodology: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Hybrid Neural ODEs</a:t>
            </a:r>
            <a:endParaRPr sz="2200"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149" name="Google Shape;149;p20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150" name="Google Shape;150;p20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Phil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151" name="Google Shape;15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20"/>
          <p:cNvSpPr txBox="1"/>
          <p:nvPr/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</a:rPr>
              <a:t>Neural ODEs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</a:rPr>
              <a:t>SINDy / Symbolic Regression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Data:</a:t>
            </a:r>
            <a:endParaRPr sz="2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Candidate Equations</a:t>
            </a:r>
            <a:endParaRPr sz="2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Sparse regression/STLS</a:t>
            </a:r>
            <a:endParaRPr sz="2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Interpretable Dynamics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578422" y="3350236"/>
            <a:ext cx="1680600" cy="1087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56" name="Google Shape;156;p20"/>
          <p:cNvCxnSpPr>
            <a:endCxn id="155" idx="1"/>
          </p:cNvCxnSpPr>
          <p:nvPr/>
        </p:nvCxnSpPr>
        <p:spPr>
          <a:xfrm>
            <a:off x="2009922" y="3893986"/>
            <a:ext cx="568500" cy="0"/>
          </a:xfrm>
          <a:prstGeom prst="straightConnector1">
            <a:avLst/>
          </a:prstGeom>
          <a:noFill/>
          <a:ln w="19050" cap="flat" cmpd="sng">
            <a:solidFill>
              <a:srgbClr val="1560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7" name="Google Shape;157;p20"/>
          <p:cNvSpPr txBox="1"/>
          <p:nvPr/>
        </p:nvSpPr>
        <p:spPr>
          <a:xfrm>
            <a:off x="4879434" y="3631037"/>
            <a:ext cx="551700" cy="468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1521543" y="3755429"/>
            <a:ext cx="376800" cy="246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34430" t="-25001" r="-22951" b="-524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2677164" y="4437631"/>
            <a:ext cx="1482900" cy="261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2611633" y="2767782"/>
            <a:ext cx="1677900" cy="477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2162855" y="4773057"/>
            <a:ext cx="2265600" cy="246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890" b="-75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62" name="Google Shape;162;p20"/>
          <p:cNvCxnSpPr/>
          <p:nvPr/>
        </p:nvCxnSpPr>
        <p:spPr>
          <a:xfrm>
            <a:off x="4274602" y="3893930"/>
            <a:ext cx="568500" cy="0"/>
          </a:xfrm>
          <a:prstGeom prst="straightConnector1">
            <a:avLst/>
          </a:prstGeom>
          <a:noFill/>
          <a:ln w="19050" cap="flat" cmpd="sng">
            <a:solidFill>
              <a:srgbClr val="1560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3" name="Google Shape;163;p20"/>
          <p:cNvSpPr txBox="1"/>
          <p:nvPr/>
        </p:nvSpPr>
        <p:spPr>
          <a:xfrm>
            <a:off x="1289888" y="5119823"/>
            <a:ext cx="435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unknown dynamics from time series data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7676873" y="2767782"/>
            <a:ext cx="3912300" cy="5598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7312579" y="4100076"/>
            <a:ext cx="4276500" cy="2829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710" b="-217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8117700" y="5049427"/>
            <a:ext cx="2320500" cy="4737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16178" y="6125425"/>
            <a:ext cx="1057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Question: </a:t>
            </a: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Did the Neural ODE learn hidden plasma structure that can be simplified into interpretable equations?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Project Goals &amp; Team Workflow</a:t>
            </a:r>
            <a:endParaRPr sz="2200"/>
          </a:p>
        </p:txBody>
      </p:sp>
      <p:grpSp>
        <p:nvGrpSpPr>
          <p:cNvPr id="173" name="Google Shape;173;p21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174" name="Google Shape;174;p21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Phil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175" name="Google Shape;17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1"/>
          <p:cNvSpPr txBox="1"/>
          <p:nvPr/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Goal 1</a:t>
            </a:r>
            <a:endParaRPr sz="2800">
              <a:solidFill>
                <a:srgbClr val="00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Reproduce Romero, RomeroNN, and MlpODE</a:t>
            </a:r>
            <a:endParaRPr sz="2400">
              <a:solidFill>
                <a:srgbClr val="000000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Julia – Chris</a:t>
            </a:r>
            <a:endParaRPr sz="2000">
              <a:solidFill>
                <a:srgbClr val="000000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Python/Jax – Phil</a:t>
            </a:r>
            <a:endParaRPr sz="2000">
              <a:solidFill>
                <a:srgbClr val="000000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Python/PyTorch – Tino</a:t>
            </a:r>
            <a:endParaRPr sz="20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Goal 2</a:t>
            </a:r>
            <a:endParaRPr sz="2800">
              <a:solidFill>
                <a:srgbClr val="00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Trained RomeroNN model to generate synthetic data</a:t>
            </a:r>
            <a:endParaRPr sz="2400">
              <a:solidFill>
                <a:srgbClr val="000000"/>
              </a:solidFill>
            </a:endParaRPr>
          </a:p>
          <a:p>
            <a:pPr marL="6858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Goal 3</a:t>
            </a:r>
            <a:endParaRPr sz="2800">
              <a:solidFill>
                <a:srgbClr val="00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Apply Symbolic Regression (Chris) and SINDy (Phil) to discover a new physical equation for plasma voltage dynamics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7619585" y="3729177"/>
            <a:ext cx="1680600" cy="1087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9920597" y="4009978"/>
            <a:ext cx="1081500" cy="467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7836853" y="4817841"/>
            <a:ext cx="1245900" cy="261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80" name="Google Shape;180;p21"/>
          <p:cNvCxnSpPr/>
          <p:nvPr/>
        </p:nvCxnSpPr>
        <p:spPr>
          <a:xfrm>
            <a:off x="9315765" y="4272871"/>
            <a:ext cx="568500" cy="0"/>
          </a:xfrm>
          <a:prstGeom prst="straightConnector1">
            <a:avLst/>
          </a:prstGeom>
          <a:noFill/>
          <a:ln w="19050" cap="flat" cmpd="sng">
            <a:solidFill>
              <a:srgbClr val="15608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JAX &amp; SINDy</a:t>
            </a:r>
            <a:endParaRPr sz="2200"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186" name="Google Shape;186;p22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187" name="Google Shape;187;p22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Phil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188" name="Google Shape;18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218175"/>
            <a:ext cx="787941" cy="45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2"/>
          <p:cNvGraphicFramePr/>
          <p:nvPr/>
        </p:nvGraphicFramePr>
        <p:xfrm>
          <a:off x="652849" y="26413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{A639E25C-C08E-436E-A343-3F5F0774F923}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Source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Model Type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Endpoint – </a:t>
                      </a:r>
                      <a:r>
                        <a:rPr lang="en-US" sz="1200" i="1" u="none" strike="noStrike" cap="none"/>
                        <a:t>L</a:t>
                      </a:r>
                      <a:r>
                        <a:rPr lang="en-US" sz="1200" i="1" u="none" strike="noStrike" cap="none" baseline="-25000"/>
                        <a:t>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EndPoint - </a:t>
                      </a:r>
                      <a:r>
                        <a:rPr lang="en-US" sz="1200" i="1" u="none" strike="noStrike" cap="none"/>
                        <a:t>I</a:t>
                      </a:r>
                      <a:r>
                        <a:rPr lang="en-US" sz="1200" i="1" u="none" strike="noStrike" cap="none" baseline="-25000"/>
                        <a:t>p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0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JAX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RomeroNN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4.27% ±3.71%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2.83%±1.52%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RomeroModel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6.03%±5.36%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9.52%±13.75%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MlpODE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3.05%±2.58%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2.28%±1.94%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1" name="Google Shape;191;p22" descr="A graph of different colored line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487354"/>
            <a:ext cx="5963138" cy="4057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8509944" y="1136429"/>
            <a:ext cx="2584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Single Plasma shot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083761" y="4016137"/>
            <a:ext cx="438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RomeroNN &amp; MlpODE cloned models replicate plasma dynamics from Wang </a:t>
            </a:r>
            <a:r>
              <a:rPr lang="en-US" sz="1400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et al</a:t>
            </a: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(2023)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6345089" y="5441521"/>
            <a:ext cx="546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Reasonable  reproduction of plasma dynamics but some differences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444249" y="6218175"/>
            <a:ext cx="1051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1800" i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i="1" baseline="-25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romeoNN</a:t>
            </a: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capturing hidden low order structure missing from RomeroMODEL?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JAX &amp; SINDy</a:t>
            </a:r>
            <a:endParaRPr sz="2200"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01" name="Google Shape;201;p23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02" name="Google Shape;202;p23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Phil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03" name="Google Shape;203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4" name="Google Shape;20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218175"/>
            <a:ext cx="787941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descr="A graph of a training shot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95480" y="1510747"/>
            <a:ext cx="5600400" cy="27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 descr="A group of blue dots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1457489"/>
            <a:ext cx="5727808" cy="303442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9417059" y="4582864"/>
            <a:ext cx="2406600" cy="244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270" t="-5001" r="-250" b="-225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3381375" y="5546346"/>
            <a:ext cx="7406700" cy="318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740" b="-173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817305" y="5551091"/>
            <a:ext cx="2478300" cy="313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720" t="-11770" r="-2460" b="-254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10873855" y="5569401"/>
            <a:ext cx="1038900" cy="2769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4680" t="-2220" r="-5260" b="-66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988760" y="4392799"/>
            <a:ext cx="609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Measured V differs from Analytic near end of shot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983496" y="4836850"/>
            <a:ext cx="610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i="1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romeroNN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capturing plasma shot dynamics</a:t>
            </a:r>
            <a:endParaRPr/>
          </a:p>
        </p:txBody>
      </p:sp>
      <p:cxnSp>
        <p:nvCxnSpPr>
          <p:cNvPr id="213" name="Google Shape;213;p23"/>
          <p:cNvCxnSpPr>
            <a:stCxn id="210" idx="2"/>
          </p:cNvCxnSpPr>
          <p:nvPr/>
        </p:nvCxnSpPr>
        <p:spPr>
          <a:xfrm flipH="1">
            <a:off x="10694605" y="5846301"/>
            <a:ext cx="698700" cy="50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4" name="Google Shape;214;p23"/>
          <p:cNvSpPr txBox="1"/>
          <p:nvPr/>
        </p:nvSpPr>
        <p:spPr>
          <a:xfrm>
            <a:off x="1559446" y="6154275"/>
            <a:ext cx="9939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Neural ODE captured dynamics that could not be reduced to a simple sparse polynomial equation.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r="62735"/>
          <a:stretch/>
        </p:blipFill>
        <p:spPr>
          <a:xfrm>
            <a:off x="0" y="0"/>
            <a:ext cx="45432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050" y="1900813"/>
            <a:ext cx="7496325" cy="3056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800" cy="4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[Insert Text Here]</a:t>
            </a:r>
            <a:endParaRPr sz="1600"/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Julia</a:t>
            </a:r>
            <a:endParaRPr sz="2200"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27" name="Google Shape;227;p25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28" name="Google Shape;228;p25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Chris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29" name="Google Shape;229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063" y="6218175"/>
            <a:ext cx="73130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r="60628"/>
          <a:stretch/>
        </p:blipFill>
        <p:spPr>
          <a:xfrm>
            <a:off x="0" y="0"/>
            <a:ext cx="4800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2350" y="1449675"/>
            <a:ext cx="6032727" cy="328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body" idx="1"/>
          </p:nvPr>
        </p:nvSpPr>
        <p:spPr>
          <a:xfrm>
            <a:off x="428625" y="1742736"/>
            <a:ext cx="6670800" cy="409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6"/>
          <p:cNvSpPr>
            <a:spLocks noGrp="1"/>
          </p:cNvSpPr>
          <p:nvPr>
            <p:ph type="pic" idx="2"/>
          </p:nvPr>
        </p:nvSpPr>
        <p:spPr>
          <a:xfrm>
            <a:off x="7543801" y="0"/>
            <a:ext cx="4648200" cy="603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40" name="Google Shape;2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/>
        </p:nvSpPr>
        <p:spPr>
          <a:xfrm>
            <a:off x="419475" y="1736075"/>
            <a:ext cx="5096700" cy="4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ncode Sans"/>
              <a:buChar char="•"/>
            </a:pP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Near-perfect  </a:t>
            </a:r>
            <a:r>
              <a:rPr lang="en-US" sz="17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7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trajectory overlap: </a:t>
            </a:r>
            <a:r>
              <a:rPr lang="en-US" sz="15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model achieved a </a:t>
            </a: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0.21% MAPE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 sz="15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tracks </a:t>
            </a:r>
            <a:r>
              <a:rPr lang="en-US" sz="17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7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better than </a:t>
            </a:r>
            <a:r>
              <a:rPr lang="en-US" sz="15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RomeroNNV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•"/>
            </a:pP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Rigorous Continuous Evaluation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Optimized, evaluated models using </a:t>
            </a: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full-trajectory 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(trapezoidal-rule)</a:t>
            </a:r>
            <a:r>
              <a:rPr lang="en-US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integration</a:t>
            </a:r>
            <a:r>
              <a:rPr lang="en-U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over the entirety of each 28-step continuous shot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441671" y="365075"/>
            <a:ext cx="46704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PyTorch</a:t>
            </a:r>
            <a:endParaRPr sz="1200" b="0">
              <a:highlight>
                <a:srgbClr val="F3F3F3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47" name="Google Shape;247;p27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48" name="Google Shape;248;p27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49" name="Google Shape;249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7"/>
          <p:cNvSpPr/>
          <p:nvPr/>
        </p:nvSpPr>
        <p:spPr>
          <a:xfrm>
            <a:off x="10294688" y="1606475"/>
            <a:ext cx="701100" cy="241500"/>
          </a:xfrm>
          <a:prstGeom prst="roundRect">
            <a:avLst>
              <a:gd name="adj" fmla="val 3712"/>
            </a:avLst>
          </a:prstGeom>
          <a:noFill/>
          <a:ln w="9525" cap="flat" cmpd="sng">
            <a:solidFill>
              <a:srgbClr val="188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grpSp>
        <p:nvGrpSpPr>
          <p:cNvPr id="251" name="Google Shape;251;p27"/>
          <p:cNvGrpSpPr/>
          <p:nvPr/>
        </p:nvGrpSpPr>
        <p:grpSpPr>
          <a:xfrm>
            <a:off x="5516150" y="401126"/>
            <a:ext cx="6394391" cy="1534998"/>
            <a:chOff x="6466362" y="5483541"/>
            <a:chExt cx="5725637" cy="1374461"/>
          </a:xfrm>
        </p:grpSpPr>
        <p:pic>
          <p:nvPicPr>
            <p:cNvPr id="252" name="Google Shape;252;p27"/>
            <p:cNvPicPr preferRelativeResize="0"/>
            <p:nvPr/>
          </p:nvPicPr>
          <p:blipFill rotWithShape="1">
            <a:blip r:embed="rId4">
              <a:alphaModFix/>
            </a:blip>
            <a:srcRect b="64742"/>
            <a:stretch/>
          </p:blipFill>
          <p:spPr>
            <a:xfrm>
              <a:off x="6466362" y="5483541"/>
              <a:ext cx="5725637" cy="948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7"/>
            <p:cNvPicPr preferRelativeResize="0"/>
            <p:nvPr/>
          </p:nvPicPr>
          <p:blipFill rotWithShape="1">
            <a:blip r:embed="rId4">
              <a:alphaModFix/>
            </a:blip>
            <a:srcRect t="82662" b="1501"/>
            <a:stretch/>
          </p:blipFill>
          <p:spPr>
            <a:xfrm>
              <a:off x="6466367" y="6432001"/>
              <a:ext cx="5725626" cy="42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7"/>
            <p:cNvSpPr/>
            <p:nvPr/>
          </p:nvSpPr>
          <p:spPr>
            <a:xfrm>
              <a:off x="10991733" y="6641563"/>
              <a:ext cx="402600" cy="199800"/>
            </a:xfrm>
            <a:prstGeom prst="roundRect">
              <a:avLst>
                <a:gd name="adj" fmla="val 3712"/>
              </a:avLst>
            </a:prstGeom>
            <a:noFill/>
            <a:ln w="28000" cap="flat" cmpd="sng">
              <a:solidFill>
                <a:srgbClr val="188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4">
                <a:solidFill>
                  <a:srgbClr val="FF0000"/>
                </a:solidFill>
              </a:endParaRPr>
            </a:p>
          </p:txBody>
        </p:sp>
      </p:grpSp>
      <p:pic>
        <p:nvPicPr>
          <p:cNvPr id="255" name="Google Shape;255;p27"/>
          <p:cNvPicPr preferRelativeResize="0"/>
          <p:nvPr/>
        </p:nvPicPr>
        <p:blipFill rotWithShape="1">
          <a:blip r:embed="rId5">
            <a:alphaModFix/>
          </a:blip>
          <a:srcRect t="3876" r="48702" b="48571"/>
          <a:stretch/>
        </p:blipFill>
        <p:spPr>
          <a:xfrm>
            <a:off x="5799816" y="1936750"/>
            <a:ext cx="5827068" cy="405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>
            <a:spLocks noGrp="1"/>
          </p:cNvSpPr>
          <p:nvPr>
            <p:ph type="title"/>
          </p:nvPr>
        </p:nvSpPr>
        <p:spPr>
          <a:xfrm>
            <a:off x="441671" y="365075"/>
            <a:ext cx="46704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PyTorch</a:t>
            </a:r>
            <a:endParaRPr sz="1200" b="0">
              <a:highlight>
                <a:srgbClr val="F3F3F3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419475" y="1742725"/>
            <a:ext cx="5009100" cy="4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4261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Open Sans"/>
                <a:ea typeface="Open Sans"/>
                <a:cs typeface="Open Sans"/>
                <a:sym typeface="Open Sans"/>
              </a:rPr>
              <a:t>For full-shot / trajectory :</a:t>
            </a:r>
            <a:r>
              <a:rPr lang="en-US" sz="1600" b="1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342900" marR="42615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Encode Sans"/>
              <a:buChar char="•"/>
            </a:pPr>
            <a:r>
              <a:rPr lang="en-US" sz="1600" b="1">
                <a:latin typeface="Open Sans"/>
                <a:ea typeface="Open Sans"/>
                <a:cs typeface="Open Sans"/>
                <a:sym typeface="Open Sans"/>
              </a:rPr>
              <a:t>Rapid Early Descent for the NN</a:t>
            </a:r>
            <a:r>
              <a:rPr lang="en-US" sz="16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q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uickly find a way to manipulate</a:t>
            </a:r>
            <a:r>
              <a:rPr lang="en-US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V,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minimizing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loss for </a:t>
            </a:r>
            <a:r>
              <a:rPr lang="en-US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6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&amp; </a:t>
            </a:r>
            <a:r>
              <a:rPr lang="en-US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</a:t>
            </a:r>
            <a:r>
              <a:rPr lang="en-US" sz="16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;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curve 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drops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fast and smooth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4261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latin typeface="Open Sans"/>
              <a:ea typeface="Open Sans"/>
              <a:cs typeface="Open Sans"/>
              <a:sym typeface="Open Sans"/>
            </a:endParaRPr>
          </a:p>
          <a:p>
            <a:pPr marL="342900" marR="42615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•"/>
            </a:pPr>
            <a:r>
              <a:rPr lang="en-US" sz="1600" b="1">
                <a:latin typeface="Open Sans"/>
                <a:ea typeface="Open Sans"/>
                <a:cs typeface="Open Sans"/>
                <a:sym typeface="Open Sans"/>
              </a:rPr>
              <a:t>Stagnation for Physics Models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: A physics/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 model cannot arbitrarily bend</a:t>
            </a:r>
            <a:r>
              <a:rPr lang="en-US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V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 into a non-physical shape just to lower the loss. Because the underlying data is noisy, the physics equations will struggle to fit it, leading to early stagnation or a high plateau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marR="4261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Open Sans"/>
              <a:ea typeface="Open Sans"/>
              <a:cs typeface="Open Sans"/>
              <a:sym typeface="Open Sans"/>
            </a:endParaRPr>
          </a:p>
          <a:p>
            <a:pPr marL="342900" marR="42615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•"/>
            </a:pPr>
            <a:r>
              <a:rPr lang="en-US" sz="1600" b="1">
                <a:latin typeface="Open Sans"/>
                <a:ea typeface="Open Sans"/>
                <a:cs typeface="Open Sans"/>
                <a:sym typeface="Open Sans"/>
              </a:rPr>
              <a:t>Overfitting / Divergence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: The pure NN is memorizing 10-step noise patterns instead of learning physics, and eventually will overfit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2" name="Google Shape;262;p28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63" name="Google Shape;263;p28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64" name="Google Shape;264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8"/>
          <p:cNvSpPr/>
          <p:nvPr/>
        </p:nvSpPr>
        <p:spPr>
          <a:xfrm>
            <a:off x="10294688" y="1606475"/>
            <a:ext cx="701100" cy="241500"/>
          </a:xfrm>
          <a:prstGeom prst="roundRect">
            <a:avLst>
              <a:gd name="adj" fmla="val 3712"/>
            </a:avLst>
          </a:prstGeom>
          <a:noFill/>
          <a:ln w="9525" cap="flat" cmpd="sng">
            <a:solidFill>
              <a:srgbClr val="188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grpSp>
        <p:nvGrpSpPr>
          <p:cNvPr id="266" name="Google Shape;266;p28"/>
          <p:cNvGrpSpPr/>
          <p:nvPr/>
        </p:nvGrpSpPr>
        <p:grpSpPr>
          <a:xfrm>
            <a:off x="5516150" y="401126"/>
            <a:ext cx="6394391" cy="1534998"/>
            <a:chOff x="6466362" y="5483541"/>
            <a:chExt cx="5725637" cy="1374461"/>
          </a:xfrm>
        </p:grpSpPr>
        <p:pic>
          <p:nvPicPr>
            <p:cNvPr id="267" name="Google Shape;267;p28"/>
            <p:cNvPicPr preferRelativeResize="0"/>
            <p:nvPr/>
          </p:nvPicPr>
          <p:blipFill rotWithShape="1">
            <a:blip r:embed="rId4">
              <a:alphaModFix/>
            </a:blip>
            <a:srcRect b="64742"/>
            <a:stretch/>
          </p:blipFill>
          <p:spPr>
            <a:xfrm>
              <a:off x="6466362" y="5483541"/>
              <a:ext cx="5725637" cy="948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8"/>
            <p:cNvPicPr preferRelativeResize="0"/>
            <p:nvPr/>
          </p:nvPicPr>
          <p:blipFill rotWithShape="1">
            <a:blip r:embed="rId4">
              <a:alphaModFix/>
            </a:blip>
            <a:srcRect t="82662" b="1501"/>
            <a:stretch/>
          </p:blipFill>
          <p:spPr>
            <a:xfrm>
              <a:off x="6466367" y="6432001"/>
              <a:ext cx="5725626" cy="42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8"/>
            <p:cNvSpPr/>
            <p:nvPr/>
          </p:nvSpPr>
          <p:spPr>
            <a:xfrm>
              <a:off x="10991733" y="6641563"/>
              <a:ext cx="402600" cy="199800"/>
            </a:xfrm>
            <a:prstGeom prst="roundRect">
              <a:avLst>
                <a:gd name="adj" fmla="val 3712"/>
              </a:avLst>
            </a:prstGeom>
            <a:noFill/>
            <a:ln w="28000" cap="flat" cmpd="sng">
              <a:solidFill>
                <a:srgbClr val="188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4">
                <a:solidFill>
                  <a:srgbClr val="FF0000"/>
                </a:solidFill>
              </a:endParaRPr>
            </a:p>
          </p:txBody>
        </p:sp>
      </p:grpSp>
      <p:pic>
        <p:nvPicPr>
          <p:cNvPr id="270" name="Google Shape;270;p28"/>
          <p:cNvPicPr preferRelativeResize="0"/>
          <p:nvPr/>
        </p:nvPicPr>
        <p:blipFill rotWithShape="1">
          <a:blip r:embed="rId5">
            <a:alphaModFix/>
          </a:blip>
          <a:srcRect t="3876" r="48702" b="48571"/>
          <a:stretch/>
        </p:blipFill>
        <p:spPr>
          <a:xfrm>
            <a:off x="5799816" y="1936750"/>
            <a:ext cx="5827068" cy="40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2260800" y="6119838"/>
            <a:ext cx="767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Validation loss should bottom out and then sharply diverge (spike upward) as it loses the ability to generalize across the full trajectory</a:t>
            </a:r>
            <a:endParaRPr sz="1600"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 t="3876" r="48702" b="48571"/>
          <a:stretch/>
        </p:blipFill>
        <p:spPr>
          <a:xfrm>
            <a:off x="1423200" y="1492825"/>
            <a:ext cx="4690652" cy="32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Preliminary Results: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PyTorch</a:t>
            </a:r>
            <a:endParaRPr sz="1200" b="0">
              <a:highlight>
                <a:srgbClr val="F3F3F3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78" name="Google Shape;278;p29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79" name="Google Shape;279;p29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80" name="Google Shape;280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1" name="Google Shape;28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9925" y="841625"/>
            <a:ext cx="3691801" cy="391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457200" y="4883400"/>
            <a:ext cx="11099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Open Sans"/>
                <a:ea typeface="Open Sans"/>
                <a:cs typeface="Open Sans"/>
                <a:sym typeface="Open Sans"/>
              </a:rPr>
              <a:t>The Illusion of Low Loss: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 These curves demonstrate how the pure neural network (</a:t>
            </a:r>
            <a:r>
              <a:rPr lang="en-US" sz="12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) circumvents the </a:t>
            </a:r>
            <a:r>
              <a:rPr lang="en-US" sz="1300" i="1">
                <a:latin typeface="Open Sans"/>
                <a:ea typeface="Open Sans"/>
                <a:cs typeface="Open Sans"/>
                <a:sym typeface="Open Sans"/>
              </a:rPr>
              <a:t>noise-dominated data bottleneck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. On the left (</a:t>
            </a:r>
            <a:r>
              <a:rPr lang="en-US" sz="1300"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pytorch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, full-shot), the </a:t>
            </a:r>
            <a:r>
              <a:rPr lang="en-US" sz="12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 rapidly achieves a low loss by treating </a:t>
            </a:r>
            <a:r>
              <a:rPr lang="en-US" sz="1300" b="1">
                <a:latin typeface="Open Sans"/>
                <a:ea typeface="Open Sans"/>
                <a:cs typeface="Open Sans"/>
                <a:sym typeface="Open Sans"/>
              </a:rPr>
              <a:t>Voltage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 as a free variable to memorize the noise, while the physics-anchored models hit a plateau. However, the Loss Curve on the right (10-step window) reveals the inevitable consequence: the </a:t>
            </a:r>
            <a:r>
              <a:rPr lang="en-US" sz="1200">
                <a:solidFill>
                  <a:schemeClr val="dk1"/>
                </a:solidFill>
                <a:highlight>
                  <a:srgbClr val="F3F3F3"/>
                </a:highlight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300">
                <a:latin typeface="Open Sans"/>
                <a:ea typeface="Open Sans"/>
                <a:cs typeface="Open Sans"/>
                <a:sym typeface="Open Sans"/>
              </a:rPr>
              <a:t> violently overfits and diverges, confirming its initial success was a mathematical illusion rather than genuine physical learning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>
            <a:spLocks noGrp="1"/>
          </p:cNvSpPr>
          <p:nvPr>
            <p:ph type="body" idx="1"/>
          </p:nvPr>
        </p:nvSpPr>
        <p:spPr>
          <a:xfrm>
            <a:off x="419475" y="1742725"/>
            <a:ext cx="5246100" cy="4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 b="1">
                <a:solidFill>
                  <a:srgbClr val="000000"/>
                </a:solidFill>
              </a:rPr>
              <a:t>Root Cause: </a:t>
            </a:r>
            <a:r>
              <a:rPr lang="en-US" sz="1600">
                <a:solidFill>
                  <a:srgbClr val="000000"/>
                </a:solidFill>
              </a:rPr>
              <a:t>The underlying finite-difference Voltage signal is completely noise-dominated (e.g.,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600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400" baseline="-25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MlpODE</a:t>
            </a:r>
            <a:r>
              <a:rPr lang="en-US" sz="1400" b="1" baseline="-25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>
                <a:solidFill>
                  <a:srgbClr val="000000"/>
                </a:solidFill>
              </a:rPr>
              <a:t>≅ </a:t>
            </a:r>
            <a:r>
              <a:rPr lang="en-US" sz="1500">
                <a:solidFill>
                  <a:srgbClr val="000000"/>
                </a:solidFill>
              </a:rPr>
              <a:t>0.0002)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 </a:t>
            </a:r>
            <a:endParaRPr sz="1500">
              <a:solidFill>
                <a:srgbClr val="000000"/>
              </a:solidFill>
            </a:endParaRPr>
          </a:p>
          <a:p>
            <a:pPr marL="3429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 b="1">
                <a:solidFill>
                  <a:srgbClr val="000000"/>
                </a:solidFill>
              </a:rPr>
              <a:t>PyTorch Validation loss curves</a:t>
            </a:r>
            <a:r>
              <a:rPr lang="en-US" sz="1500">
                <a:solidFill>
                  <a:srgbClr val="000000"/>
                </a:solidFill>
              </a:rPr>
              <a:t>: Appears to be portraying the same messaging, though further investigation will be needed to confirm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3429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 b="1">
                <a:solidFill>
                  <a:srgbClr val="000000"/>
                </a:solidFill>
              </a:rPr>
              <a:t>SINDy Dilemma:</a:t>
            </a:r>
            <a:r>
              <a:rPr lang="en-US" sz="1600">
                <a:solidFill>
                  <a:srgbClr val="000000"/>
                </a:solidFill>
              </a:rPr>
              <a:t> Applying SINDy to these data residuals will inherit the exact same noise problem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3429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 b="1">
                <a:solidFill>
                  <a:srgbClr val="000000"/>
                </a:solidFill>
              </a:rPr>
              <a:t>Pivot: </a:t>
            </a:r>
            <a:r>
              <a:rPr lang="en-US" sz="1600">
                <a:solidFill>
                  <a:srgbClr val="000000"/>
                </a:solidFill>
              </a:rPr>
              <a:t>We are framing this as a definitive, clean </a:t>
            </a:r>
            <a:r>
              <a:rPr lang="en-US" sz="1600" b="1">
                <a:solidFill>
                  <a:srgbClr val="000000"/>
                </a:solidFill>
              </a:rPr>
              <a:t>negative result</a:t>
            </a:r>
            <a:r>
              <a:rPr lang="en-US" sz="1600">
                <a:solidFill>
                  <a:srgbClr val="000000"/>
                </a:solidFill>
              </a:rPr>
              <a:t> rather than forcing equation discovery on unviable data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The Roadblock: </a:t>
            </a:r>
            <a:r>
              <a:rPr lang="en-US" sz="2200" b="0">
                <a:latin typeface="Encode Sans"/>
                <a:ea typeface="Encode Sans"/>
                <a:cs typeface="Encode Sans"/>
                <a:sym typeface="Encode Sans"/>
              </a:rPr>
              <a:t>The Data Bottleneck</a:t>
            </a:r>
            <a:endParaRPr sz="2200"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89" name="Google Shape;289;p30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90" name="Google Shape;290;p30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291" name="Google Shape;29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2" name="Google Shape;292;p30"/>
          <p:cNvPicPr preferRelativeResize="0"/>
          <p:nvPr/>
        </p:nvPicPr>
        <p:blipFill rotWithShape="1">
          <a:blip r:embed="rId4">
            <a:alphaModFix/>
          </a:blip>
          <a:srcRect b="27751"/>
          <a:stretch/>
        </p:blipFill>
        <p:spPr>
          <a:xfrm>
            <a:off x="5665450" y="1278913"/>
            <a:ext cx="6188723" cy="3167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>
            <a:spLocks noGrp="1"/>
          </p:cNvSpPr>
          <p:nvPr>
            <p:ph type="body" idx="1"/>
          </p:nvPr>
        </p:nvSpPr>
        <p:spPr>
          <a:xfrm>
            <a:off x="419475" y="1742725"/>
            <a:ext cx="5172000" cy="4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705484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Encode Sans"/>
              <a:buChar char="•"/>
            </a:pPr>
            <a:r>
              <a:rPr lang="en-US" sz="1700" b="1"/>
              <a:t>The Goal Was Met: </a:t>
            </a:r>
            <a:r>
              <a:rPr lang="en-US" sz="1700"/>
              <a:t>Successfully replicated and even exceeded the baseline reference targets across all three independent approaches</a:t>
            </a:r>
            <a:endParaRPr sz="1700"/>
          </a:p>
          <a:p>
            <a:pPr marL="0" marR="705484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/>
          </a:p>
          <a:p>
            <a:pPr marL="342900" marR="705484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Encode Sans"/>
              <a:buChar char="•"/>
            </a:pPr>
            <a:r>
              <a:rPr lang="en-US" sz="1700" b="1"/>
              <a:t>The </a:t>
            </a:r>
            <a:r>
              <a:rPr lang="en-US" sz="1700" b="1" i="1"/>
              <a:t>Not Ideal</a:t>
            </a:r>
            <a:r>
              <a:rPr lang="en-US" sz="1700" b="1"/>
              <a:t> Reality: </a:t>
            </a:r>
            <a:r>
              <a:rPr lang="en-US" sz="1700"/>
              <a:t>Models tracked (</a:t>
            </a:r>
            <a:r>
              <a:rPr lang="en-US" sz="1700" b="1" i="1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700" b="1" i="1" baseline="-25000"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lang="en-US" sz="1700"/>
              <a:t> , </a:t>
            </a:r>
            <a:r>
              <a:rPr lang="en-US" sz="1700" b="1" i="1">
                <a:latin typeface="Old Standard TT"/>
                <a:ea typeface="Old Standard TT"/>
                <a:cs typeface="Old Standard TT"/>
                <a:sym typeface="Old Standard TT"/>
              </a:rPr>
              <a:t>L</a:t>
            </a:r>
            <a:r>
              <a:rPr lang="en-US" sz="1700" b="1" i="1" baseline="-250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-US" sz="1700"/>
              <a:t> ) well, however, are physically questionable and unreliable</a:t>
            </a:r>
            <a:endParaRPr sz="1700"/>
          </a:p>
          <a:p>
            <a:pPr marL="0" marR="705484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grpSp>
        <p:nvGrpSpPr>
          <p:cNvPr id="298" name="Google Shape;298;p31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299" name="Google Shape;299;p31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300" name="Google Shape;30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" name="Google Shape;301;p31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 b="0"/>
              <a:t>Primary Goal Assessment</a:t>
            </a:r>
            <a:endParaRPr sz="1200" b="0">
              <a:highlight>
                <a:srgbClr val="F3F3F3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4">
            <a:alphaModFix/>
          </a:blip>
          <a:srcRect b="27751"/>
          <a:stretch/>
        </p:blipFill>
        <p:spPr>
          <a:xfrm>
            <a:off x="5665450" y="1278913"/>
            <a:ext cx="6188723" cy="3167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>
            <a:spLocks noGrp="1"/>
          </p:cNvSpPr>
          <p:nvPr>
            <p:ph type="body" idx="1"/>
          </p:nvPr>
        </p:nvSpPr>
        <p:spPr>
          <a:xfrm>
            <a:off x="419475" y="1742725"/>
            <a:ext cx="5440200" cy="4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•"/>
            </a:pPr>
            <a:r>
              <a:rPr lang="en-US" sz="1600"/>
              <a:t>Finalize cross-framework documentation as a strong engineering reproduction of the baseline</a:t>
            </a:r>
            <a:endParaRPr sz="1600"/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Novel </a:t>
            </a:r>
            <a:r>
              <a:rPr lang="en-US" sz="1600" b="1">
                <a:latin typeface="Old Standard TT"/>
                <a:ea typeface="Old Standard TT"/>
                <a:cs typeface="Old Standard TT"/>
                <a:sym typeface="Old Standard TT"/>
              </a:rPr>
              <a:t>dV/dt</a:t>
            </a:r>
            <a:r>
              <a:rPr lang="en-US" sz="1600"/>
              <a:t> diagnostic that exposed the limits of the hybrid architecture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highlight>
                  <a:schemeClr val="dk2"/>
                </a:highlight>
              </a:rPr>
              <a:t>Feedback Items</a:t>
            </a:r>
            <a:endParaRPr sz="1900" b="1" i="1">
              <a:solidFill>
                <a:srgbClr val="FFFFFF"/>
              </a:solidFill>
              <a:highlight>
                <a:schemeClr val="dk2"/>
              </a:highlight>
            </a:endParaRPr>
          </a:p>
          <a:p>
            <a:pPr marL="342900" marR="431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 i="1"/>
          </a:p>
          <a:p>
            <a:pPr marL="342900" marR="91379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1"/>
              <a:t>How have peers handled downstream tasks (like equation discovery) becoming mathematically unviable due to dataset noise late in a project? </a:t>
            </a:r>
            <a:endParaRPr sz="1700"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8" name="Google Shape;308;p32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Next Steps &amp; Feedback</a:t>
            </a:r>
            <a:endParaRPr sz="2200"/>
          </a:p>
        </p:txBody>
      </p:sp>
      <p:grpSp>
        <p:nvGrpSpPr>
          <p:cNvPr id="309" name="Google Shape;309;p32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310" name="Google Shape;310;p32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311" name="Google Shape;31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2" name="Google Shape;3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2425" y="312125"/>
            <a:ext cx="3602099" cy="3285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2"/>
          <p:cNvGrpSpPr/>
          <p:nvPr/>
        </p:nvGrpSpPr>
        <p:grpSpPr>
          <a:xfrm>
            <a:off x="5230125" y="4055776"/>
            <a:ext cx="6394391" cy="1534998"/>
            <a:chOff x="6466362" y="5483541"/>
            <a:chExt cx="5725637" cy="1374461"/>
          </a:xfrm>
        </p:grpSpPr>
        <p:pic>
          <p:nvPicPr>
            <p:cNvPr id="314" name="Google Shape;314;p32"/>
            <p:cNvPicPr preferRelativeResize="0"/>
            <p:nvPr/>
          </p:nvPicPr>
          <p:blipFill rotWithShape="1">
            <a:blip r:embed="rId5">
              <a:alphaModFix/>
            </a:blip>
            <a:srcRect b="64742"/>
            <a:stretch/>
          </p:blipFill>
          <p:spPr>
            <a:xfrm>
              <a:off x="6466362" y="5483541"/>
              <a:ext cx="5725637" cy="948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2"/>
            <p:cNvPicPr preferRelativeResize="0"/>
            <p:nvPr/>
          </p:nvPicPr>
          <p:blipFill rotWithShape="1">
            <a:blip r:embed="rId5">
              <a:alphaModFix/>
            </a:blip>
            <a:srcRect t="82662" b="1501"/>
            <a:stretch/>
          </p:blipFill>
          <p:spPr>
            <a:xfrm>
              <a:off x="6466367" y="6432001"/>
              <a:ext cx="5725626" cy="42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32"/>
            <p:cNvSpPr/>
            <p:nvPr/>
          </p:nvSpPr>
          <p:spPr>
            <a:xfrm>
              <a:off x="10991733" y="6641563"/>
              <a:ext cx="402600" cy="199800"/>
            </a:xfrm>
            <a:prstGeom prst="roundRect">
              <a:avLst>
                <a:gd name="adj" fmla="val 3712"/>
              </a:avLst>
            </a:prstGeom>
            <a:noFill/>
            <a:ln w="28000" cap="flat" cmpd="sng">
              <a:solidFill>
                <a:srgbClr val="188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4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Credit Statement</a:t>
            </a:r>
            <a:endParaRPr sz="2200"/>
          </a:p>
        </p:txBody>
      </p:sp>
      <p:grpSp>
        <p:nvGrpSpPr>
          <p:cNvPr id="322" name="Google Shape;322;p33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323" name="Google Shape;323;p33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324" name="Google Shape;32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25" name="Google Shape;325;p33"/>
          <p:cNvGraphicFramePr/>
          <p:nvPr/>
        </p:nvGraphicFramePr>
        <p:xfrm>
          <a:off x="457188" y="214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{37E7225B-32BC-481F-B453-A7D3E6B69DA4}</a:tableStyleId>
              </a:tblPr>
              <a:tblGrid>
                <a:gridCol w="55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Presentation Section</a:t>
                      </a:r>
                      <a:endParaRPr sz="16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114300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Owner</a:t>
                      </a:r>
                      <a:endParaRPr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114300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Intro &amp; Motivation</a:t>
                      </a:r>
                      <a:endParaRPr sz="1200" b="1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Christopher Billingham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Physics Problem: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Modeling Plasma Dynamics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Christopher Billingham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 Methodology: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Hybrid Neural ODEs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Phillip Prior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Goals &amp; Workflow</a:t>
                      </a:r>
                      <a:endParaRPr sz="1200" b="1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Phillip Prior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JAX Implementation &amp; SINDy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Phillip Prior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Julia Implementation &amp; The Diagnostics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Christopher Billingham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Preliminary Results: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PyTorch Implementation &amp; The Second Obstacle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 Wells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Roadblock: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Data Bottleneck</a:t>
                      </a:r>
                      <a:endParaRPr sz="12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 Wells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Goal Summary, Next Steps, &amp; Feedback</a:t>
                      </a:r>
                      <a:endParaRPr sz="1200" b="1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 Wells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6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Resources</a:t>
                      </a:r>
                      <a:endParaRPr sz="1200" b="1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Tino Wells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1F1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>
            <a:spLocks noGrp="1"/>
          </p:cNvSpPr>
          <p:nvPr>
            <p:ph type="title"/>
          </p:nvPr>
        </p:nvSpPr>
        <p:spPr>
          <a:xfrm>
            <a:off x="441663" y="365069"/>
            <a:ext cx="66537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ncode Sans Black"/>
              <a:buNone/>
            </a:pPr>
            <a:r>
              <a:rPr lang="en-US" sz="2200"/>
              <a:t>Thank You &amp; Resources</a:t>
            </a:r>
            <a:endParaRPr sz="2200"/>
          </a:p>
        </p:txBody>
      </p:sp>
      <p:grpSp>
        <p:nvGrpSpPr>
          <p:cNvPr id="331" name="Google Shape;331;p34"/>
          <p:cNvGrpSpPr/>
          <p:nvPr/>
        </p:nvGrpSpPr>
        <p:grpSpPr>
          <a:xfrm>
            <a:off x="457200" y="457200"/>
            <a:ext cx="937200" cy="320100"/>
            <a:chOff x="4526276" y="5669275"/>
            <a:chExt cx="937200" cy="320100"/>
          </a:xfrm>
        </p:grpSpPr>
        <p:sp>
          <p:nvSpPr>
            <p:cNvPr id="332" name="Google Shape;332;p34"/>
            <p:cNvSpPr/>
            <p:nvPr/>
          </p:nvSpPr>
          <p:spPr>
            <a:xfrm>
              <a:off x="4526276" y="5669275"/>
              <a:ext cx="937200" cy="320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320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32006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>
                  <a:solidFill>
                    <a:srgbClr val="32006E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Tino</a:t>
              </a:r>
              <a:endParaRPr sz="1200">
                <a:solidFill>
                  <a:srgbClr val="32006E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pic>
          <p:nvPicPr>
            <p:cNvPr id="333" name="Google Shape;33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2223" y="5669280"/>
              <a:ext cx="320040" cy="320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34"/>
          <p:cNvSpPr txBox="1">
            <a:spLocks noGrp="1"/>
          </p:cNvSpPr>
          <p:nvPr>
            <p:ph type="body" idx="1"/>
          </p:nvPr>
        </p:nvSpPr>
        <p:spPr>
          <a:xfrm>
            <a:off x="574025" y="1704100"/>
            <a:ext cx="11459400" cy="4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[0] Code base:</a:t>
            </a:r>
            <a:r>
              <a:rPr lang="en-US" sz="1200">
                <a:uFill>
                  <a:noFill/>
                </a:uFill>
                <a:hlinkClick r:id="rId4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https://github.com/caderache2014/ENGR521A/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[1] H. Abu-Shawareb </a:t>
            </a:r>
            <a:r>
              <a:rPr lang="en-US" sz="1200" i="1"/>
              <a:t>et al.</a:t>
            </a:r>
            <a:r>
              <a:rPr lang="en-US" sz="1200"/>
              <a:t> (Indirect Drive ICF Collaboration), Achievement of target gain larger than unity in an inertial fusion experiment,"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/>
              <a:t>Phys. Rev. Lett.</a:t>
            </a:r>
            <a:r>
              <a:rPr lang="en-US" sz="1200"/>
              <a:t>, vol. 132, no. 6, art. no. 065102, Feb. 2024,</a:t>
            </a:r>
            <a:r>
              <a:rPr lang="en-US" sz="1200">
                <a:uFill>
                  <a:noFill/>
                </a:uFill>
                <a:hlinkClick r:id="rId5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doi.org/10.1103/PhysRevLett.132.065102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[2] Fusion Industry Association, "The Global Fusion Industry in 2024," Fusion Industry Association, Washington, DC, USA,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Jul. 2024.</a:t>
            </a:r>
            <a:r>
              <a:rPr lang="en-US" sz="1200">
                <a:uFill>
                  <a:noFill/>
                </a:uFill>
                <a:hlinkClick r:id="rId6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https://www.fusionindustryassociation.org/fusion-industry-reports/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[3] Anonymous, “Deuterium-Tritium fusion reaction” diagram.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Released into the public domain. Wikipedia Commons:</a:t>
            </a:r>
            <a:r>
              <a:rPr lang="en-US" sz="1200">
                <a:uFill>
                  <a:noFill/>
                </a:uFill>
                <a:hlinkClick r:id="rId7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https://commons.wikimedia.org/wiki/File:D-t-fusion.png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[4] M. Greenwald, et al. 20 years of research on the Alcator C-Mod tokamak.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Physics of Plasmas, 21(11):110501, 2014</a:t>
            </a:r>
            <a:r>
              <a:rPr lang="en-US" sz="1200">
                <a:uFill>
                  <a:noFill/>
                </a:uFill>
                <a:hlinkClick r:id="rId8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10.1063/1.4901920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[5] A. M. Wang, D. T. Garnier, and C. Rea. Hybridizing physics and neural ODEs for predicting plasma inductance dynamics in tokamak fusion reactors.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/>
              <a:t>NeurIPS 2023 Workshop on Tackling Climate Change with Machine Learning.</a:t>
            </a:r>
            <a:r>
              <a:rPr lang="en-US" sz="1200">
                <a:uFill>
                  <a:noFill/>
                </a:uFill>
                <a:hlinkClick r:id="rId9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arXiv:2310.20079v1</a:t>
            </a:r>
            <a:endParaRPr sz="1200" u="sng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[6] J. Romero, JET-EFDA Contributors, </a:t>
            </a:r>
            <a:r>
              <a:rPr lang="en-US" sz="1200" i="1"/>
              <a:t>et al.</a:t>
            </a:r>
            <a:r>
              <a:rPr lang="en-US" sz="1200"/>
              <a:t> Plasma internal inductance dynamics in a tokamak. </a:t>
            </a:r>
            <a:endParaRPr sz="1200"/>
          </a:p>
          <a:p>
            <a:pPr marL="400050" lvl="0" indent="0" algn="just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/>
              <a:t>Nuclear Fusion</a:t>
            </a:r>
            <a:r>
              <a:rPr lang="en-US" sz="1200"/>
              <a:t>, 50(100):115002, 2010</a:t>
            </a:r>
            <a:r>
              <a:rPr lang="en-US" sz="1200">
                <a:uFill>
                  <a:noFill/>
                </a:uFill>
                <a:hlinkClick r:id="rId10"/>
              </a:rPr>
              <a:t> </a:t>
            </a:r>
            <a:r>
              <a:rPr lang="en-US" sz="1200" u="sng">
                <a:solidFill>
                  <a:schemeClr val="dk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10.1088/0029-5515/50/11/115002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</Words>
  <Application>Microsoft Macintosh PowerPoint</Application>
  <PresentationFormat>Widescreen</PresentationFormat>
  <Paragraphs>238</Paragraphs>
  <Slides>19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Times New Roman</vt:lpstr>
      <vt:lpstr>Encode Sans Black</vt:lpstr>
      <vt:lpstr>Arial</vt:lpstr>
      <vt:lpstr>Open Sans</vt:lpstr>
      <vt:lpstr>Encode Sans</vt:lpstr>
      <vt:lpstr>Open Sans SemiBold</vt:lpstr>
      <vt:lpstr>Roboto Mono</vt:lpstr>
      <vt:lpstr>Old Standard TT</vt:lpstr>
      <vt:lpstr>Custom Design</vt:lpstr>
      <vt:lpstr>Custom Design</vt:lpstr>
      <vt:lpstr>Custom Design</vt:lpstr>
      <vt:lpstr>[PROPOSED] Presentation Outline ---------------------------------------------[---🚨---DELETE OR HIDE BEFORE PRESENTING---🚨---]---------------------------------------</vt:lpstr>
      <vt:lpstr> Reproducing &amp; Diagnosing a Hybrid Neural ODE for Plasma Current Dynamics in the Alcator C-Mod Tokamak  ENGR 521 A: Machine Learning For Engineering Project - Spring 2026 </vt:lpstr>
      <vt:lpstr>PowerPoint Presentation</vt:lpstr>
      <vt:lpstr>PowerPoint Presentation</vt:lpstr>
      <vt:lpstr>AI Methodology: Hybrid Neural ODEs</vt:lpstr>
      <vt:lpstr>Project Goals &amp; Team Workflow</vt:lpstr>
      <vt:lpstr>Preliminary Results: JAX &amp; SINDy</vt:lpstr>
      <vt:lpstr>Preliminary Results: JAX &amp; SINDy</vt:lpstr>
      <vt:lpstr>PowerPoint Presentation</vt:lpstr>
      <vt:lpstr>Preliminary Results: Julia</vt:lpstr>
      <vt:lpstr>PowerPoint Presentation</vt:lpstr>
      <vt:lpstr>Preliminary Results: PyTorch</vt:lpstr>
      <vt:lpstr>Preliminary Results: PyTorch</vt:lpstr>
      <vt:lpstr>Preliminary Results: PyTorch</vt:lpstr>
      <vt:lpstr>The Roadblock: The Data Bottleneck</vt:lpstr>
      <vt:lpstr>Primary Goal Assessment</vt:lpstr>
      <vt:lpstr>Next Steps &amp; Feedback</vt:lpstr>
      <vt:lpstr>Credit Statement</vt:lpstr>
      <vt:lpstr>Thank You &amp;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CHRISTOPHER M BILLINGHAM</cp:lastModifiedBy>
  <cp:revision>1</cp:revision>
  <dcterms:modified xsi:type="dcterms:W3CDTF">2026-06-29T15:58:25Z</dcterms:modified>
</cp:coreProperties>
</file>